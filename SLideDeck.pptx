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D05907-8967-B2B3-14EA-341376D49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B7FD139-4258-D34F-EB7F-E9E49319B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B90773-D3B8-FD46-0C9F-F6683AC0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69888A-03D5-332C-9014-4EF9A370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C5501C-D7AA-C386-2CDA-41474820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92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51611B-88B4-FEFE-F921-82E58061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5A55F2-CAEB-7A85-A5F0-A6E6E3A29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FEA8A4-D7BC-CE74-5999-558242FD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9C8372-3B87-6A41-C3BD-BC71BC8F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1169A2-F63C-4D1B-4C17-F278DAA3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7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531580-05CE-A9F4-F083-6F826B24A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396460-D465-7886-B1B3-65320B980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255931-3AE9-44A8-BE41-90E337E1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1DDA40-971B-912C-7F04-51194323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9503BB-F103-163F-FBC9-786C1A4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850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298014-605D-06F8-2A05-1609AC959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307295-F1AF-E6A0-88C5-940F54D9C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7A1D6B-F293-32D5-9866-B37FEDD56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266624-2CEA-B956-61DE-7B876EBE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4E30CF-324A-EE30-CB21-6872B29A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8951A5-520E-0D95-CC62-741B81D5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41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648D64-9E54-11E4-FB08-B21DE5F9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2F0A9F-3480-6A11-D56D-3F5DF91C4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79D2AF-0652-6F62-9476-D12AE9100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2103F28-A682-F91B-B719-89B05779F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3CA7C8F-20E1-3DA5-2FCA-332BF3777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8CB5E59-9083-DA84-ED37-9438A2FD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F8D1941-CF6F-8869-F258-3D7670EF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38D232C-E26C-F7B2-2502-70FE558C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457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0C6F91-AEC5-C6C1-657B-693E787E0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AA4FAED-7164-8F1E-81FC-D6A9EB14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CB3C84B-7813-2AB6-623F-3B05567C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BB304C-1D45-F997-F41A-21EC4738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65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BECA67C-76A6-1283-0474-6D6BED27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86F6846-25C5-7947-AF3A-1B2588A6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042BD8-FBC8-E270-CB82-CECC8897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437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076DE-E5D0-4174-0B92-9B0D41A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FDD493-A19C-D680-D935-4B4C351B4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3C4CB9A-F8CA-23EB-2E91-368E98F1F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F8ECDF-8472-258E-154B-7D9AC813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22462C-3C6E-F73E-ADE5-7F864744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44176B-B764-031F-2C8A-C642CA86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132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2516A0-FC6C-5262-D1E9-EB8C1184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EAC5C72-573C-80A9-EE6F-31FF40087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CDB876-8646-9FC0-EA43-16B23C8E9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131603E-A039-40A2-1C75-06884A64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D915BD-E713-EF9A-E831-589E12F7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7B8573-353E-9FFE-19B2-EE2A0CF2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297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6D70C2-9DC5-2A8D-2C07-AF53C999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34D95E9-952C-1748-5AF3-43B1F9AD2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26B89C-9048-7028-D4F0-CAEB5153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820C1A-4558-3A8C-BEF2-1B08C576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CF3925-B5BC-5C0C-56C5-517666AC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3921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56502BD-4962-6F99-689F-24635A2CB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0DD99A-EA54-F12B-ED79-245064EBC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D46D3D-0AB7-C3ED-088F-B75A5221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30F883-3168-716D-BB57-4BB51DEB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0C9325-6F6C-E516-23C7-5BA9AC70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028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5ED417-636D-7E0B-60B5-B65C3571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8B30464-A4D1-D95C-B73E-A9AB879D1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149F7D-C6B2-E539-9EAB-0FB224F66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66259-CB72-4332-A49B-513DEA941CCC}" type="datetimeFigureOut">
              <a:rPr lang="it-IT" smtClean="0"/>
              <a:t>31/07/2026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2A54E8-9EF8-C4D1-D7E4-1BF6F6EE7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3ED37C-7A5B-09A6-2146-412EB2C7F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8706C-10D9-41B0-835A-8ECCFC3F64D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064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0EF1CAD-A667-D4D4-2520-14DE3F5847BF}"/>
              </a:ext>
            </a:extLst>
          </p:cNvPr>
          <p:cNvSpPr/>
          <p:nvPr/>
        </p:nvSpPr>
        <p:spPr>
          <a:xfrm>
            <a:off x="268605" y="1892300"/>
            <a:ext cx="405384" cy="25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572E816-B603-6D23-1BB0-2DED76BAB80E}"/>
              </a:ext>
            </a:extLst>
          </p:cNvPr>
          <p:cNvSpPr txBox="1"/>
          <p:nvPr/>
        </p:nvSpPr>
        <p:spPr>
          <a:xfrm>
            <a:off x="775335" y="1803400"/>
            <a:ext cx="22879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CAPSTONE DATA ANALYTICS</a:t>
            </a:r>
            <a:endParaRPr lang="en-US" sz="1197" dirty="0">
              <a:solidFill>
                <a:schemeClr val="accent2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B3A5795-72FA-EC2D-F9D9-BF9F5B7C1E93}"/>
              </a:ext>
            </a:extLst>
          </p:cNvPr>
          <p:cNvSpPr txBox="1"/>
          <p:nvPr/>
        </p:nvSpPr>
        <p:spPr>
          <a:xfrm>
            <a:off x="268605" y="2159000"/>
            <a:ext cx="584144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788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Analisi del Rischio Stradale nei Comuni Italiani</a:t>
            </a:r>
            <a:endParaRPr lang="en-US" sz="4788" dirty="0">
              <a:solidFill>
                <a:schemeClr val="accent2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B124E74-9FD9-6953-2D64-2C9043CD9733}"/>
              </a:ext>
            </a:extLst>
          </p:cNvPr>
          <p:cNvSpPr txBox="1"/>
          <p:nvPr/>
        </p:nvSpPr>
        <p:spPr>
          <a:xfrm>
            <a:off x="268605" y="4597400"/>
            <a:ext cx="584144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Progetto Capstone Data Analytics – Francesco Mauro</a:t>
            </a:r>
            <a:endParaRPr lang="en-US" sz="1795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2AB8BA7-A332-E775-72E8-7D7F085A7876}"/>
              </a:ext>
            </a:extLst>
          </p:cNvPr>
          <p:cNvSpPr txBox="1"/>
          <p:nvPr/>
        </p:nvSpPr>
        <p:spPr>
          <a:xfrm>
            <a:off x="268605" y="6146800"/>
            <a:ext cx="584144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dirty="0">
                <a:solidFill>
                  <a:srgbClr val="6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ISTAT · SITUAS · Python · Power BI</a:t>
            </a:r>
            <a:endParaRPr lang="en-US" sz="1197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88F2670-F1DE-A3A1-67C9-5EC54718A84C}"/>
              </a:ext>
            </a:extLst>
          </p:cNvPr>
          <p:cNvSpPr/>
          <p:nvPr/>
        </p:nvSpPr>
        <p:spPr>
          <a:xfrm>
            <a:off x="6616784" y="0"/>
            <a:ext cx="5575216" cy="6858000"/>
          </a:xfrm>
          <a:prstGeom prst="rect">
            <a:avLst/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597CFF0-1533-02C6-D45D-349ABAB79199}"/>
              </a:ext>
            </a:extLst>
          </p:cNvPr>
          <p:cNvSpPr txBox="1"/>
          <p:nvPr/>
        </p:nvSpPr>
        <p:spPr>
          <a:xfrm>
            <a:off x="6933490" y="317500"/>
            <a:ext cx="467319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PROBLEMA DI BUSINESS</a:t>
            </a:r>
            <a:endParaRPr lang="en-US" sz="1197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7D16278-FA0C-210B-8A84-F044502B46B3}"/>
              </a:ext>
            </a:extLst>
          </p:cNvPr>
          <p:cNvSpPr/>
          <p:nvPr/>
        </p:nvSpPr>
        <p:spPr>
          <a:xfrm>
            <a:off x="6933490" y="876300"/>
            <a:ext cx="405384" cy="406400"/>
          </a:xfrm>
          <a:prstGeom prst="roundRect">
            <a:avLst>
              <a:gd name="adj" fmla="val 14098"/>
            </a:avLst>
          </a:prstGeom>
          <a:noFill/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BF4EB68C-A052-0992-D095-2A6622277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22168" y="965200"/>
            <a:ext cx="228029" cy="2286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65631C0-C525-23DB-792D-DAE885400710}"/>
              </a:ext>
            </a:extLst>
          </p:cNvPr>
          <p:cNvSpPr txBox="1"/>
          <p:nvPr/>
        </p:nvSpPr>
        <p:spPr>
          <a:xfrm>
            <a:off x="7490893" y="876300"/>
            <a:ext cx="4115796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L'azienda deve individuare i comuni con la maggiore incidentalità per mirare gli investimenti in sicurezza</a:t>
            </a:r>
            <a:endParaRPr lang="en-US" sz="1496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F9A22DD-1E69-C20C-D407-FE908288F3A7}"/>
              </a:ext>
            </a:extLst>
          </p:cNvPr>
          <p:cNvSpPr/>
          <p:nvPr/>
        </p:nvSpPr>
        <p:spPr>
          <a:xfrm>
            <a:off x="6933490" y="2545556"/>
            <a:ext cx="4673199" cy="127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42C6086-A13F-0438-5AF3-927587715911}"/>
              </a:ext>
            </a:extLst>
          </p:cNvPr>
          <p:cNvSpPr/>
          <p:nvPr/>
        </p:nvSpPr>
        <p:spPr>
          <a:xfrm>
            <a:off x="6933490" y="3513138"/>
            <a:ext cx="405384" cy="406400"/>
          </a:xfrm>
          <a:prstGeom prst="roundRect">
            <a:avLst>
              <a:gd name="adj" fmla="val 14098"/>
            </a:avLst>
          </a:prstGeom>
          <a:noFill/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>
            <a:extLst>
              <a:ext uri="{FF2B5EF4-FFF2-40B4-BE49-F238E27FC236}">
                <a16:creationId xmlns:a16="http://schemas.microsoft.com/office/drawing/2014/main" id="{EB77D5DB-CD4F-7DE4-F6A5-5780F46D0D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22168" y="3602038"/>
            <a:ext cx="228029" cy="22860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6D156BB5-A5A2-936B-4983-AD164A8EC944}"/>
              </a:ext>
            </a:extLst>
          </p:cNvPr>
          <p:cNvSpPr txBox="1"/>
          <p:nvPr/>
        </p:nvSpPr>
        <p:spPr>
          <a:xfrm>
            <a:off x="7490893" y="3513138"/>
            <a:ext cx="41157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dati originali ISTAT erano destrutturati e privi del rapporto pro-capite</a:t>
            </a:r>
            <a:endParaRPr lang="en-US" sz="1496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9025D554-A1FC-2879-838F-256D0AE01476}"/>
              </a:ext>
            </a:extLst>
          </p:cNvPr>
          <p:cNvSpPr/>
          <p:nvPr/>
        </p:nvSpPr>
        <p:spPr>
          <a:xfrm>
            <a:off x="6933490" y="4944269"/>
            <a:ext cx="4673199" cy="127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14158799-7C33-D0F5-9A85-3F7658ED62B8}"/>
              </a:ext>
            </a:extLst>
          </p:cNvPr>
          <p:cNvSpPr/>
          <p:nvPr/>
        </p:nvSpPr>
        <p:spPr>
          <a:xfrm>
            <a:off x="6933490" y="5911850"/>
            <a:ext cx="405384" cy="406400"/>
          </a:xfrm>
          <a:prstGeom prst="roundRect">
            <a:avLst>
              <a:gd name="adj" fmla="val 14098"/>
            </a:avLst>
          </a:prstGeom>
          <a:noFill/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>
            <a:extLst>
              <a:ext uri="{FF2B5EF4-FFF2-40B4-BE49-F238E27FC236}">
                <a16:creationId xmlns:a16="http://schemas.microsoft.com/office/drawing/2014/main" id="{F3CF6DF6-A868-BCE1-9BAB-25B21BE78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22168" y="6000750"/>
            <a:ext cx="228029" cy="22860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DB8ACE54-FBC4-B0BF-959C-1216D8DBA717}"/>
              </a:ext>
            </a:extLst>
          </p:cNvPr>
          <p:cNvSpPr txBox="1"/>
          <p:nvPr/>
        </p:nvSpPr>
        <p:spPr>
          <a:xfrm>
            <a:off x="7490893" y="5911850"/>
            <a:ext cx="41157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Necessità di confrontare equamente grandi metropoli e piccoli borghi</a:t>
            </a:r>
            <a:endParaRPr lang="en-US" sz="1496" dirty="0"/>
          </a:p>
        </p:txBody>
      </p:sp>
    </p:spTree>
    <p:extLst>
      <p:ext uri="{BB962C8B-B14F-4D97-AF65-F5344CB8AC3E}">
        <p14:creationId xmlns:p14="http://schemas.microsoft.com/office/powerpoint/2010/main" val="398598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E6088EE-5B44-97BA-1BC3-15647BE69202}"/>
              </a:ext>
            </a:extLst>
          </p:cNvPr>
          <p:cNvSpPr txBox="1"/>
          <p:nvPr/>
        </p:nvSpPr>
        <p:spPr>
          <a:xfrm>
            <a:off x="521970" y="355600"/>
            <a:ext cx="111480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DATI &amp; STRUMENTI</a:t>
            </a:r>
            <a:endParaRPr lang="en-US" sz="1197" dirty="0">
              <a:solidFill>
                <a:schemeClr val="accent2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4013B33-1AAC-F9BC-0C49-09313EC5AD98}"/>
              </a:ext>
            </a:extLst>
          </p:cNvPr>
          <p:cNvSpPr txBox="1"/>
          <p:nvPr/>
        </p:nvSpPr>
        <p:spPr>
          <a:xfrm>
            <a:off x="521970" y="6350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Dati e Strumenti Utilizzati</a:t>
            </a:r>
            <a:endParaRPr lang="en-US" sz="2993" dirty="0">
              <a:solidFill>
                <a:schemeClr val="accent2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C34D75C-D871-8905-6E7D-86048F187A5B}"/>
              </a:ext>
            </a:extLst>
          </p:cNvPr>
          <p:cNvSpPr/>
          <p:nvPr/>
        </p:nvSpPr>
        <p:spPr>
          <a:xfrm>
            <a:off x="521970" y="1212850"/>
            <a:ext cx="608076" cy="25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DE6C415-F3C3-4234-B678-0C0891E60D4A}"/>
              </a:ext>
            </a:extLst>
          </p:cNvPr>
          <p:cNvSpPr/>
          <p:nvPr/>
        </p:nvSpPr>
        <p:spPr>
          <a:xfrm>
            <a:off x="521970" y="1441450"/>
            <a:ext cx="5472684" cy="5060950"/>
          </a:xfrm>
          <a:prstGeom prst="roundRect">
            <a:avLst>
              <a:gd name="adj" fmla="val 167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3868EF1-9ACF-4C91-6AA7-39F86A23DDE6}"/>
              </a:ext>
            </a:extLst>
          </p:cNvPr>
          <p:cNvSpPr txBox="1"/>
          <p:nvPr/>
        </p:nvSpPr>
        <p:spPr>
          <a:xfrm>
            <a:off x="788003" y="1708150"/>
            <a:ext cx="49406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dirty="0">
                <a:solidFill>
                  <a:srgbClr val="A8B8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FONTI DATI</a:t>
            </a:r>
            <a:endParaRPr lang="en-US" sz="1197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2165C7E-0759-E059-2352-DB3FE2CC40DD}"/>
              </a:ext>
            </a:extLst>
          </p:cNvPr>
          <p:cNvSpPr/>
          <p:nvPr/>
        </p:nvSpPr>
        <p:spPr>
          <a:xfrm>
            <a:off x="788003" y="2266950"/>
            <a:ext cx="633413" cy="635000"/>
          </a:xfrm>
          <a:prstGeom prst="roundRect">
            <a:avLst>
              <a:gd name="adj" fmla="val 115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AF58FED2-CC5D-BE95-7BB0-60DFCF5F1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10000" b="-110000"/>
          <a:stretch/>
        </p:blipFill>
        <p:spPr>
          <a:xfrm>
            <a:off x="838676" y="2317750"/>
            <a:ext cx="532067" cy="53340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CF444DE2-2F35-F47A-E0D7-43D465104690}"/>
              </a:ext>
            </a:extLst>
          </p:cNvPr>
          <p:cNvSpPr txBox="1"/>
          <p:nvPr/>
        </p:nvSpPr>
        <p:spPr>
          <a:xfrm>
            <a:off x="1624108" y="2343150"/>
            <a:ext cx="397149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4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ISTAT</a:t>
            </a:r>
            <a:endParaRPr lang="en-US" sz="1646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CBC6FEA-9DC6-7BF7-1628-D981EBB60B68}"/>
              </a:ext>
            </a:extLst>
          </p:cNvPr>
          <p:cNvSpPr txBox="1"/>
          <p:nvPr/>
        </p:nvSpPr>
        <p:spPr>
          <a:xfrm>
            <a:off x="1624108" y="2597150"/>
            <a:ext cx="39714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Estrazione automatica degli incidenti stradali</a:t>
            </a:r>
            <a:endParaRPr lang="en-US" sz="1496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471055E-715E-D94E-00F5-DB9F998BA43F}"/>
              </a:ext>
            </a:extLst>
          </p:cNvPr>
          <p:cNvSpPr/>
          <p:nvPr/>
        </p:nvSpPr>
        <p:spPr>
          <a:xfrm>
            <a:off x="788003" y="4168775"/>
            <a:ext cx="4940618" cy="127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EF7B176-B29D-2A11-2A65-632FFBD1640B}"/>
              </a:ext>
            </a:extLst>
          </p:cNvPr>
          <p:cNvSpPr/>
          <p:nvPr/>
        </p:nvSpPr>
        <p:spPr>
          <a:xfrm>
            <a:off x="788003" y="5448300"/>
            <a:ext cx="633413" cy="635000"/>
          </a:xfrm>
          <a:prstGeom prst="roundRect">
            <a:avLst>
              <a:gd name="adj" fmla="val 11549"/>
            </a:avLst>
          </a:prstGeom>
          <a:solidFill>
            <a:srgbClr val="1B2E44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>
            <a:extLst>
              <a:ext uri="{FF2B5EF4-FFF2-40B4-BE49-F238E27FC236}">
                <a16:creationId xmlns:a16="http://schemas.microsoft.com/office/drawing/2014/main" id="{D92FC130-528F-AE2F-503E-A3E21CE5D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022" y="5600700"/>
            <a:ext cx="329375" cy="3302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07E41C46-DD5F-6752-88AD-1DA30514BA5E}"/>
              </a:ext>
            </a:extLst>
          </p:cNvPr>
          <p:cNvSpPr txBox="1"/>
          <p:nvPr/>
        </p:nvSpPr>
        <p:spPr>
          <a:xfrm>
            <a:off x="1624108" y="5524500"/>
            <a:ext cx="3540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4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SITUAS</a:t>
            </a:r>
            <a:endParaRPr lang="en-US" sz="1746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1761F1F-8A8F-E8C7-99C2-725EFCB0B9CA}"/>
              </a:ext>
            </a:extLst>
          </p:cNvPr>
          <p:cNvSpPr txBox="1"/>
          <p:nvPr/>
        </p:nvSpPr>
        <p:spPr>
          <a:xfrm>
            <a:off x="1624108" y="5778500"/>
            <a:ext cx="35407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Dati territoriali e demografici dei comuni</a:t>
            </a:r>
            <a:endParaRPr lang="en-US" sz="1496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D3BDBAEB-71C5-1E05-CA7C-0939078A0376}"/>
              </a:ext>
            </a:extLst>
          </p:cNvPr>
          <p:cNvSpPr/>
          <p:nvPr/>
        </p:nvSpPr>
        <p:spPr>
          <a:xfrm>
            <a:off x="6197346" y="1441450"/>
            <a:ext cx="5472684" cy="5060950"/>
          </a:xfrm>
          <a:prstGeom prst="roundRect">
            <a:avLst>
              <a:gd name="adj" fmla="val 167"/>
            </a:avLst>
          </a:prstGeom>
          <a:solidFill>
            <a:srgbClr val="1B2E44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34BDEB6-869B-EA8D-160B-749AD792D007}"/>
              </a:ext>
            </a:extLst>
          </p:cNvPr>
          <p:cNvSpPr txBox="1"/>
          <p:nvPr/>
        </p:nvSpPr>
        <p:spPr>
          <a:xfrm>
            <a:off x="6463379" y="1708150"/>
            <a:ext cx="494061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dirty="0">
                <a:solidFill>
                  <a:srgbClr val="A8B8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 TECNOLOGICO</a:t>
            </a:r>
            <a:endParaRPr lang="en-US" sz="1197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E45E9660-2651-A186-2EE6-4E36EF71042B}"/>
              </a:ext>
            </a:extLst>
          </p:cNvPr>
          <p:cNvSpPr/>
          <p:nvPr/>
        </p:nvSpPr>
        <p:spPr>
          <a:xfrm>
            <a:off x="6463379" y="2216150"/>
            <a:ext cx="633413" cy="635000"/>
          </a:xfrm>
          <a:prstGeom prst="roundRect">
            <a:avLst>
              <a:gd name="adj" fmla="val 115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CFF7DE5B-9657-CFE4-5068-50B5F8AFB4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14052" y="2266950"/>
            <a:ext cx="532067" cy="533400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1CB02C2B-16D5-DB85-95B0-5E6996324E2F}"/>
              </a:ext>
            </a:extLst>
          </p:cNvPr>
          <p:cNvSpPr txBox="1"/>
          <p:nvPr/>
        </p:nvSpPr>
        <p:spPr>
          <a:xfrm>
            <a:off x="7299484" y="2292350"/>
            <a:ext cx="309738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</a:t>
            </a:r>
            <a:r>
              <a:rPr lang="en-US" sz="1795" dirty="0">
                <a:solidFill>
                  <a:srgbClr val="A8B8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(Pandas)</a:t>
            </a:r>
            <a:endParaRPr lang="en-US" sz="1795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379D4E7-803D-1DF2-D1F2-04E9AB91E98C}"/>
              </a:ext>
            </a:extLst>
          </p:cNvPr>
          <p:cNvSpPr txBox="1"/>
          <p:nvPr/>
        </p:nvSpPr>
        <p:spPr>
          <a:xfrm>
            <a:off x="7299484" y="2546350"/>
            <a:ext cx="30973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Estrazione, pulizia e merge dei dati</a:t>
            </a:r>
            <a:endParaRPr lang="en-US" sz="1496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20839E55-18F2-1754-B9FF-346DBFCC43DE}"/>
              </a:ext>
            </a:extLst>
          </p:cNvPr>
          <p:cNvSpPr/>
          <p:nvPr/>
        </p:nvSpPr>
        <p:spPr>
          <a:xfrm>
            <a:off x="6463379" y="3328988"/>
            <a:ext cx="4940618" cy="127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B2E67B89-AD3D-7BFD-B531-60852EB0565D}"/>
              </a:ext>
            </a:extLst>
          </p:cNvPr>
          <p:cNvSpPr/>
          <p:nvPr/>
        </p:nvSpPr>
        <p:spPr>
          <a:xfrm>
            <a:off x="6463379" y="3819525"/>
            <a:ext cx="633413" cy="635000"/>
          </a:xfrm>
          <a:prstGeom prst="roundRect">
            <a:avLst>
              <a:gd name="adj" fmla="val 115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3">
            <a:extLst>
              <a:ext uri="{FF2B5EF4-FFF2-40B4-BE49-F238E27FC236}">
                <a16:creationId xmlns:a16="http://schemas.microsoft.com/office/drawing/2014/main" id="{1A2D200A-2314-44D3-5AE0-576EB08236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42619" b="-42619"/>
          <a:stretch/>
        </p:blipFill>
        <p:spPr>
          <a:xfrm>
            <a:off x="6514052" y="3870325"/>
            <a:ext cx="532067" cy="533400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78A68B5C-43F2-9147-7ECD-A27DDC17B3B4}"/>
              </a:ext>
            </a:extLst>
          </p:cNvPr>
          <p:cNvSpPr txBox="1"/>
          <p:nvPr/>
        </p:nvSpPr>
        <p:spPr>
          <a:xfrm>
            <a:off x="7299484" y="3895725"/>
            <a:ext cx="355344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Scikit-learn</a:t>
            </a:r>
            <a:endParaRPr lang="en-US" sz="1795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5EC6DFB-5E3A-1A41-2AED-312CEA044349}"/>
              </a:ext>
            </a:extLst>
          </p:cNvPr>
          <p:cNvSpPr txBox="1"/>
          <p:nvPr/>
        </p:nvSpPr>
        <p:spPr>
          <a:xfrm>
            <a:off x="7299484" y="4149725"/>
            <a:ext cx="35534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Modello di Machine Learning (K-Means)</a:t>
            </a:r>
            <a:endParaRPr lang="en-US" sz="1496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7F82F6CC-ED51-23C3-C607-348C7BABC407}"/>
              </a:ext>
            </a:extLst>
          </p:cNvPr>
          <p:cNvSpPr/>
          <p:nvPr/>
        </p:nvSpPr>
        <p:spPr>
          <a:xfrm>
            <a:off x="6463379" y="4932363"/>
            <a:ext cx="4940618" cy="127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BCCDBB93-04FD-8093-AE85-C617E46A349E}"/>
              </a:ext>
            </a:extLst>
          </p:cNvPr>
          <p:cNvSpPr/>
          <p:nvPr/>
        </p:nvSpPr>
        <p:spPr>
          <a:xfrm>
            <a:off x="6463379" y="5461000"/>
            <a:ext cx="633413" cy="635000"/>
          </a:xfrm>
          <a:prstGeom prst="roundRect">
            <a:avLst>
              <a:gd name="adj" fmla="val 115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1" name="Image 4">
            <a:extLst>
              <a:ext uri="{FF2B5EF4-FFF2-40B4-BE49-F238E27FC236}">
                <a16:creationId xmlns:a16="http://schemas.microsoft.com/office/drawing/2014/main" id="{5DA6A5DA-52BA-93B0-C7F9-336AEA7BCC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8889" b="-38889"/>
          <a:stretch/>
        </p:blipFill>
        <p:spPr>
          <a:xfrm>
            <a:off x="6514052" y="5511800"/>
            <a:ext cx="532067" cy="533400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AC61E353-2CEA-FAE1-1533-F333F86D75ED}"/>
              </a:ext>
            </a:extLst>
          </p:cNvPr>
          <p:cNvSpPr txBox="1"/>
          <p:nvPr/>
        </p:nvSpPr>
        <p:spPr>
          <a:xfrm>
            <a:off x="7299484" y="5422900"/>
            <a:ext cx="410451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BI</a:t>
            </a:r>
            <a:endParaRPr lang="en-US" sz="1795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656458F3-A1AB-CAA6-E795-6F2326433416}"/>
              </a:ext>
            </a:extLst>
          </p:cNvPr>
          <p:cNvSpPr txBox="1"/>
          <p:nvPr/>
        </p:nvSpPr>
        <p:spPr>
          <a:xfrm>
            <a:off x="7299484" y="5676900"/>
            <a:ext cx="41045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interattiva per la visualizzazione finale</a:t>
            </a:r>
            <a:endParaRPr lang="en-US" sz="1496" dirty="0"/>
          </a:p>
        </p:txBody>
      </p:sp>
    </p:spTree>
    <p:extLst>
      <p:ext uri="{BB962C8B-B14F-4D97-AF65-F5344CB8AC3E}">
        <p14:creationId xmlns:p14="http://schemas.microsoft.com/office/powerpoint/2010/main" val="1117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D4C81F-1339-C410-EFB9-29E2422D7BB1}"/>
              </a:ext>
            </a:extLst>
          </p:cNvPr>
          <p:cNvSpPr txBox="1"/>
          <p:nvPr/>
        </p:nvSpPr>
        <p:spPr>
          <a:xfrm>
            <a:off x="521969" y="304800"/>
            <a:ext cx="111480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ENGINEERING &amp; MACHINE LEARNING</a:t>
            </a:r>
            <a:endParaRPr lang="en-US" sz="1197" dirty="0">
              <a:solidFill>
                <a:schemeClr val="accent2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311C7B1-AF00-9629-D76F-6055F01C9233}"/>
              </a:ext>
            </a:extLst>
          </p:cNvPr>
          <p:cNvSpPr txBox="1"/>
          <p:nvPr/>
        </p:nvSpPr>
        <p:spPr>
          <a:xfrm>
            <a:off x="521969" y="584200"/>
            <a:ext cx="11148060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Normalizzazione &amp; Clustering K-Means</a:t>
            </a:r>
            <a:endParaRPr lang="en-US" sz="2993" dirty="0">
              <a:solidFill>
                <a:schemeClr val="accent2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CF9F46F-CF19-901C-B0AA-EE233B94E3B8}"/>
              </a:ext>
            </a:extLst>
          </p:cNvPr>
          <p:cNvSpPr/>
          <p:nvPr/>
        </p:nvSpPr>
        <p:spPr>
          <a:xfrm>
            <a:off x="521969" y="1212850"/>
            <a:ext cx="5954078" cy="1857375"/>
          </a:xfrm>
          <a:prstGeom prst="roundRect">
            <a:avLst>
              <a:gd name="adj" fmla="val 419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9F67310-1BA3-FC7E-EF2A-23C7661C6D71}"/>
              </a:ext>
            </a:extLst>
          </p:cNvPr>
          <p:cNvSpPr/>
          <p:nvPr/>
        </p:nvSpPr>
        <p:spPr>
          <a:xfrm>
            <a:off x="737329" y="1428750"/>
            <a:ext cx="456057" cy="457200"/>
          </a:xfrm>
          <a:prstGeom prst="roundRect">
            <a:avLst>
              <a:gd name="adj" fmla="val 22278"/>
            </a:avLst>
          </a:prstGeom>
          <a:solidFill>
            <a:srgbClr val="1B2E44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6B65B596-976D-E469-B283-A5AD8B181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8675" y="1530350"/>
            <a:ext cx="253365" cy="25400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2183349F-5640-2CC4-3751-5E49CCA15821}"/>
              </a:ext>
            </a:extLst>
          </p:cNvPr>
          <p:cNvSpPr txBox="1"/>
          <p:nvPr/>
        </p:nvSpPr>
        <p:spPr>
          <a:xfrm>
            <a:off x="1345405" y="1428750"/>
            <a:ext cx="457323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rgbClr val="FF9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METRICA 1</a:t>
            </a:r>
            <a:endParaRPr lang="en-US" sz="1197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4CD985B-23F2-9FDA-A1FC-3857EC4090A8}"/>
              </a:ext>
            </a:extLst>
          </p:cNvPr>
          <p:cNvSpPr txBox="1"/>
          <p:nvPr/>
        </p:nvSpPr>
        <p:spPr>
          <a:xfrm>
            <a:off x="1345405" y="1631950"/>
            <a:ext cx="45732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4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Incidenti per 100.000 abitanti</a:t>
            </a:r>
            <a:endParaRPr lang="en-US" sz="1646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85343E0-C16D-A561-B136-C59DA008FCAF}"/>
              </a:ext>
            </a:extLst>
          </p:cNvPr>
          <p:cNvSpPr txBox="1"/>
          <p:nvPr/>
        </p:nvSpPr>
        <p:spPr>
          <a:xfrm>
            <a:off x="1345405" y="1885950"/>
            <a:ext cx="4573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Confronto equo tra comuni di dimensioni diverse</a:t>
            </a:r>
            <a:endParaRPr lang="en-US" sz="1496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8A82B69-0B95-AE99-241E-F07672A17980}"/>
              </a:ext>
            </a:extLst>
          </p:cNvPr>
          <p:cNvSpPr/>
          <p:nvPr/>
        </p:nvSpPr>
        <p:spPr>
          <a:xfrm>
            <a:off x="521969" y="3070225"/>
            <a:ext cx="5954078" cy="1857375"/>
          </a:xfrm>
          <a:prstGeom prst="roundRect">
            <a:avLst>
              <a:gd name="adj" fmla="val 419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1246157-798D-8E46-7BF2-6807C62E1E9D}"/>
              </a:ext>
            </a:extLst>
          </p:cNvPr>
          <p:cNvSpPr/>
          <p:nvPr/>
        </p:nvSpPr>
        <p:spPr>
          <a:xfrm>
            <a:off x="737329" y="3286125"/>
            <a:ext cx="456057" cy="457200"/>
          </a:xfrm>
          <a:prstGeom prst="roundRect">
            <a:avLst>
              <a:gd name="adj" fmla="val 22278"/>
            </a:avLst>
          </a:prstGeom>
          <a:solidFill>
            <a:srgbClr val="1B2E44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E87FEDEC-E08B-44F6-E750-A012555D6B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675" y="3387725"/>
            <a:ext cx="253365" cy="2540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4584CC5E-0B2E-03CF-1A59-25FE85992A4C}"/>
              </a:ext>
            </a:extLst>
          </p:cNvPr>
          <p:cNvSpPr txBox="1"/>
          <p:nvPr/>
        </p:nvSpPr>
        <p:spPr>
          <a:xfrm>
            <a:off x="1345405" y="3286125"/>
            <a:ext cx="29833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rgbClr val="FF95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METRICA 2</a:t>
            </a:r>
            <a:endParaRPr lang="en-US" sz="1197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99A5736-AB6D-600E-D5BB-96018A7F96A8}"/>
              </a:ext>
            </a:extLst>
          </p:cNvPr>
          <p:cNvSpPr txBox="1"/>
          <p:nvPr/>
        </p:nvSpPr>
        <p:spPr>
          <a:xfrm>
            <a:off x="1345405" y="3489325"/>
            <a:ext cx="29833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4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Densità incidenti per Km²</a:t>
            </a:r>
            <a:endParaRPr lang="en-US" sz="1746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A4AA595-F799-0F64-E279-DC5C3F112665}"/>
              </a:ext>
            </a:extLst>
          </p:cNvPr>
          <p:cNvSpPr txBox="1"/>
          <p:nvPr/>
        </p:nvSpPr>
        <p:spPr>
          <a:xfrm>
            <a:off x="1345405" y="3743325"/>
            <a:ext cx="29833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A8B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Misura dell'intensità territoriale</a:t>
            </a:r>
            <a:endParaRPr lang="en-US" sz="1496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1178C33-478F-B364-D592-A77BF72D3213}"/>
              </a:ext>
            </a:extLst>
          </p:cNvPr>
          <p:cNvSpPr/>
          <p:nvPr/>
        </p:nvSpPr>
        <p:spPr>
          <a:xfrm>
            <a:off x="521969" y="4927600"/>
            <a:ext cx="5954078" cy="1625600"/>
          </a:xfrm>
          <a:prstGeom prst="roundRect">
            <a:avLst>
              <a:gd name="adj" fmla="val 479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A55BB62-3E8D-1376-3D15-775FDE211872}"/>
              </a:ext>
            </a:extLst>
          </p:cNvPr>
          <p:cNvSpPr txBox="1"/>
          <p:nvPr/>
        </p:nvSpPr>
        <p:spPr>
          <a:xfrm>
            <a:off x="737329" y="5143500"/>
            <a:ext cx="552335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dirty="0">
                <a:solidFill>
                  <a:srgbClr val="A8B8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ALGORITMO</a:t>
            </a:r>
            <a:endParaRPr lang="en-US" sz="1197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89A9CD8-CB44-31CC-FC39-72733A86E9CC}"/>
              </a:ext>
            </a:extLst>
          </p:cNvPr>
          <p:cNvSpPr txBox="1"/>
          <p:nvPr/>
        </p:nvSpPr>
        <p:spPr>
          <a:xfrm>
            <a:off x="737329" y="5346700"/>
            <a:ext cx="552335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K-Means con </a:t>
            </a:r>
            <a:r>
              <a:rPr lang="en-US" sz="1795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 = 3</a:t>
            </a: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cluster</a:t>
            </a:r>
            <a:endParaRPr lang="en-US" sz="1795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E4ED5766-9F80-03A5-68EE-0EB6423C8685}"/>
              </a:ext>
            </a:extLst>
          </p:cNvPr>
          <p:cNvSpPr/>
          <p:nvPr/>
        </p:nvSpPr>
        <p:spPr>
          <a:xfrm>
            <a:off x="737329" y="5702300"/>
            <a:ext cx="1798397" cy="635000"/>
          </a:xfrm>
          <a:prstGeom prst="roundRect">
            <a:avLst>
              <a:gd name="adj" fmla="val 2029"/>
            </a:avLst>
          </a:prstGeom>
          <a:solidFill>
            <a:srgbClr val="1B2E44"/>
          </a:solidFill>
          <a:ln w="12668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96A8B40-B68D-3426-D49F-3B21E8ADCC82}"/>
              </a:ext>
            </a:extLst>
          </p:cNvPr>
          <p:cNvSpPr/>
          <p:nvPr/>
        </p:nvSpPr>
        <p:spPr>
          <a:xfrm>
            <a:off x="902017" y="5962650"/>
            <a:ext cx="112926" cy="114300"/>
          </a:xfrm>
          <a:prstGeom prst="roundRect">
            <a:avLst>
              <a:gd name="adj" fmla="val 2249261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E18AD73A-3D9A-AF16-AEE2-9E4661CE09DF}"/>
              </a:ext>
            </a:extLst>
          </p:cNvPr>
          <p:cNvSpPr txBox="1"/>
          <p:nvPr/>
        </p:nvSpPr>
        <p:spPr>
          <a:xfrm>
            <a:off x="1090952" y="5791200"/>
            <a:ext cx="1280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Rischio Basso</a:t>
            </a:r>
            <a:endParaRPr lang="en-US" sz="1496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9D1DEAD-805C-E2EF-8F18-C94911DBB23A}"/>
              </a:ext>
            </a:extLst>
          </p:cNvPr>
          <p:cNvSpPr/>
          <p:nvPr/>
        </p:nvSpPr>
        <p:spPr>
          <a:xfrm>
            <a:off x="2687745" y="5702300"/>
            <a:ext cx="1810867" cy="635000"/>
          </a:xfrm>
          <a:prstGeom prst="roundRect">
            <a:avLst>
              <a:gd name="adj" fmla="val 2015"/>
            </a:avLst>
          </a:prstGeom>
          <a:solidFill>
            <a:srgbClr val="1B2E44"/>
          </a:solidFill>
          <a:ln w="12668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B911704-B18C-F612-F104-7E6513D6019F}"/>
              </a:ext>
            </a:extLst>
          </p:cNvPr>
          <p:cNvSpPr/>
          <p:nvPr/>
        </p:nvSpPr>
        <p:spPr>
          <a:xfrm>
            <a:off x="2852432" y="5962650"/>
            <a:ext cx="112926" cy="114300"/>
          </a:xfrm>
          <a:prstGeom prst="roundRect">
            <a:avLst>
              <a:gd name="adj" fmla="val 2249261"/>
            </a:avLst>
          </a:prstGeom>
          <a:solidFill>
            <a:srgbClr val="FF950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A3C2454-D5F8-EB2A-6E94-668B6996CB62}"/>
              </a:ext>
            </a:extLst>
          </p:cNvPr>
          <p:cNvSpPr txBox="1"/>
          <p:nvPr/>
        </p:nvSpPr>
        <p:spPr>
          <a:xfrm>
            <a:off x="3041367" y="5791200"/>
            <a:ext cx="1292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Rischio Medio</a:t>
            </a:r>
            <a:endParaRPr lang="en-US" sz="1496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40D54383-D526-93D2-680E-3A1EF41EC7B7}"/>
              </a:ext>
            </a:extLst>
          </p:cNvPr>
          <p:cNvSpPr/>
          <p:nvPr/>
        </p:nvSpPr>
        <p:spPr>
          <a:xfrm>
            <a:off x="4650631" y="5702300"/>
            <a:ext cx="1610055" cy="635000"/>
          </a:xfrm>
          <a:prstGeom prst="roundRect">
            <a:avLst>
              <a:gd name="adj" fmla="val 2266"/>
            </a:avLst>
          </a:prstGeom>
          <a:solidFill>
            <a:srgbClr val="1B2E44"/>
          </a:solidFill>
          <a:ln w="12668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18283D2F-CA0B-346A-E30C-5E9101A5339D}"/>
              </a:ext>
            </a:extLst>
          </p:cNvPr>
          <p:cNvSpPr/>
          <p:nvPr/>
        </p:nvSpPr>
        <p:spPr>
          <a:xfrm>
            <a:off x="4815318" y="5962650"/>
            <a:ext cx="112926" cy="114300"/>
          </a:xfrm>
          <a:prstGeom prst="roundRect">
            <a:avLst>
              <a:gd name="adj" fmla="val 2249261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7E642AC-1067-6919-4234-F3B549D80F54}"/>
              </a:ext>
            </a:extLst>
          </p:cNvPr>
          <p:cNvSpPr txBox="1"/>
          <p:nvPr/>
        </p:nvSpPr>
        <p:spPr>
          <a:xfrm>
            <a:off x="5004253" y="5791200"/>
            <a:ext cx="1091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Rischio Alto</a:t>
            </a:r>
            <a:endParaRPr lang="en-US" sz="1496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4D31EFA7-E4DC-F4FB-F663-7801BB0ADBF2}"/>
              </a:ext>
            </a:extLst>
          </p:cNvPr>
          <p:cNvSpPr/>
          <p:nvPr/>
        </p:nvSpPr>
        <p:spPr>
          <a:xfrm>
            <a:off x="6678739" y="1212850"/>
            <a:ext cx="4991291" cy="5340350"/>
          </a:xfrm>
          <a:prstGeom prst="roundRect">
            <a:avLst>
              <a:gd name="adj" fmla="val 174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2">
            <a:extLst>
              <a:ext uri="{FF2B5EF4-FFF2-40B4-BE49-F238E27FC236}">
                <a16:creationId xmlns:a16="http://schemas.microsoft.com/office/drawing/2014/main" id="{9C206BBF-CCA8-6EDB-CFD4-0390C266B5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722" b="-31722"/>
          <a:stretch/>
        </p:blipFill>
        <p:spPr>
          <a:xfrm>
            <a:off x="6792753" y="1327150"/>
            <a:ext cx="4763262" cy="4629150"/>
          </a:xfrm>
          <a:prstGeom prst="rect">
            <a:avLst/>
          </a:prstGeom>
        </p:spPr>
      </p:pic>
      <p:sp>
        <p:nvSpPr>
          <p:cNvPr id="32" name="Text 25">
            <a:extLst>
              <a:ext uri="{FF2B5EF4-FFF2-40B4-BE49-F238E27FC236}">
                <a16:creationId xmlns:a16="http://schemas.microsoft.com/office/drawing/2014/main" id="{C0AC5B9A-E9B9-B542-B779-2E3FB5EC690B}"/>
              </a:ext>
            </a:extLst>
          </p:cNvPr>
          <p:cNvSpPr txBox="1"/>
          <p:nvPr/>
        </p:nvSpPr>
        <p:spPr>
          <a:xfrm>
            <a:off x="6792753" y="6032500"/>
            <a:ext cx="476326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97" dirty="0">
                <a:solidFill>
                  <a:srgbClr val="6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Segmentazione K-Means dei comuni sulle due metriche normalizzate</a:t>
            </a:r>
            <a:endParaRPr lang="en-US" sz="1197" dirty="0"/>
          </a:p>
        </p:txBody>
      </p:sp>
    </p:spTree>
    <p:extLst>
      <p:ext uri="{BB962C8B-B14F-4D97-AF65-F5344CB8AC3E}">
        <p14:creationId xmlns:p14="http://schemas.microsoft.com/office/powerpoint/2010/main" val="94420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97260F92-3B6E-1E6C-3F06-FA98163C7EB0}"/>
              </a:ext>
            </a:extLst>
          </p:cNvPr>
          <p:cNvSpPr txBox="1"/>
          <p:nvPr/>
        </p:nvSpPr>
        <p:spPr>
          <a:xfrm>
            <a:off x="521970" y="304800"/>
            <a:ext cx="366112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OVERVIEW</a:t>
            </a:r>
            <a:endParaRPr lang="en-US" sz="1197" dirty="0">
              <a:solidFill>
                <a:schemeClr val="accent2"/>
              </a:solidFill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A959254D-6D54-1902-52DA-4F160F84B589}"/>
              </a:ext>
            </a:extLst>
          </p:cNvPr>
          <p:cNvSpPr txBox="1"/>
          <p:nvPr/>
        </p:nvSpPr>
        <p:spPr>
          <a:xfrm>
            <a:off x="521970" y="558800"/>
            <a:ext cx="3661124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Power BI</a:t>
            </a:r>
            <a:endParaRPr lang="en-US" sz="2993" dirty="0">
              <a:solidFill>
                <a:schemeClr val="accent2"/>
              </a:solidFill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674B744-B917-1453-8D4E-BCC5154731E8}"/>
              </a:ext>
            </a:extLst>
          </p:cNvPr>
          <p:cNvSpPr/>
          <p:nvPr/>
        </p:nvSpPr>
        <p:spPr>
          <a:xfrm>
            <a:off x="11099959" y="384175"/>
            <a:ext cx="570071" cy="571500"/>
          </a:xfrm>
          <a:prstGeom prst="roundRect">
            <a:avLst>
              <a:gd name="adj" fmla="val 178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FE786B94-2E49-2AFD-0761-436DBBD5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8889" b="-38889"/>
          <a:stretch/>
        </p:blipFill>
        <p:spPr>
          <a:xfrm>
            <a:off x="11150632" y="434975"/>
            <a:ext cx="468725" cy="469900"/>
          </a:xfrm>
          <a:prstGeom prst="rect">
            <a:avLst/>
          </a:prstGeom>
        </p:spPr>
      </p:pic>
      <p:sp>
        <p:nvSpPr>
          <p:cNvPr id="23" name="Shape 3">
            <a:extLst>
              <a:ext uri="{FF2B5EF4-FFF2-40B4-BE49-F238E27FC236}">
                <a16:creationId xmlns:a16="http://schemas.microsoft.com/office/drawing/2014/main" id="{05E835BB-2B19-642A-86A5-6A615F91B425}"/>
              </a:ext>
            </a:extLst>
          </p:cNvPr>
          <p:cNvSpPr/>
          <p:nvPr/>
        </p:nvSpPr>
        <p:spPr>
          <a:xfrm>
            <a:off x="521970" y="1187450"/>
            <a:ext cx="11148060" cy="4070350"/>
          </a:xfrm>
          <a:prstGeom prst="roundRect">
            <a:avLst>
              <a:gd name="adj" fmla="val 128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1">
            <a:extLst>
              <a:ext uri="{FF2B5EF4-FFF2-40B4-BE49-F238E27FC236}">
                <a16:creationId xmlns:a16="http://schemas.microsoft.com/office/drawing/2014/main" id="{0A90DD46-1F60-A3B9-AE64-9C8DCAD0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028" r="-15028"/>
          <a:stretch/>
        </p:blipFill>
        <p:spPr>
          <a:xfrm>
            <a:off x="534638" y="1200150"/>
            <a:ext cx="11122724" cy="4044950"/>
          </a:xfrm>
          <a:prstGeom prst="rect">
            <a:avLst/>
          </a:prstGeom>
        </p:spPr>
      </p:pic>
      <p:sp>
        <p:nvSpPr>
          <p:cNvPr id="25" name="Shape 4">
            <a:extLst>
              <a:ext uri="{FF2B5EF4-FFF2-40B4-BE49-F238E27FC236}">
                <a16:creationId xmlns:a16="http://schemas.microsoft.com/office/drawing/2014/main" id="{CFABA28C-5130-3AF1-F075-A7517B0C08BE}"/>
              </a:ext>
            </a:extLst>
          </p:cNvPr>
          <p:cNvSpPr/>
          <p:nvPr/>
        </p:nvSpPr>
        <p:spPr>
          <a:xfrm>
            <a:off x="521970" y="5410200"/>
            <a:ext cx="11148060" cy="1143000"/>
          </a:xfrm>
          <a:prstGeom prst="roundRect">
            <a:avLst>
              <a:gd name="adj" fmla="val 364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2">
            <a:extLst>
              <a:ext uri="{FF2B5EF4-FFF2-40B4-BE49-F238E27FC236}">
                <a16:creationId xmlns:a16="http://schemas.microsoft.com/office/drawing/2014/main" id="{CAE02614-2D8F-9AEB-5B8D-C682B9B4F0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44852" y="5575300"/>
            <a:ext cx="278702" cy="279400"/>
          </a:xfrm>
          <a:prstGeom prst="rect">
            <a:avLst/>
          </a:prstGeom>
        </p:spPr>
      </p:pic>
      <p:sp>
        <p:nvSpPr>
          <p:cNvPr id="27" name="Text 5">
            <a:extLst>
              <a:ext uri="{FF2B5EF4-FFF2-40B4-BE49-F238E27FC236}">
                <a16:creationId xmlns:a16="http://schemas.microsoft.com/office/drawing/2014/main" id="{5E2BC67A-13F1-D0BA-E8BA-A20A0A9A460B}"/>
              </a:ext>
            </a:extLst>
          </p:cNvPr>
          <p:cNvSpPr txBox="1"/>
          <p:nvPr/>
        </p:nvSpPr>
        <p:spPr>
          <a:xfrm>
            <a:off x="788003" y="593090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10 comuni ad alto rischio identificati con un solo sguardo</a:t>
            </a:r>
            <a:endParaRPr lang="en-US" sz="1496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435C6FE7-93C1-09F3-F186-B4DAFC96A43D}"/>
              </a:ext>
            </a:extLst>
          </p:cNvPr>
          <p:cNvSpPr/>
          <p:nvPr/>
        </p:nvSpPr>
        <p:spPr>
          <a:xfrm>
            <a:off x="4233767" y="5422900"/>
            <a:ext cx="12668" cy="11176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9" name="Image 3">
            <a:extLst>
              <a:ext uri="{FF2B5EF4-FFF2-40B4-BE49-F238E27FC236}">
                <a16:creationId xmlns:a16="http://schemas.microsoft.com/office/drawing/2014/main" id="{0673CFB4-89C8-3521-D397-5E28F0D4AB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6649" y="5575300"/>
            <a:ext cx="278702" cy="279400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5CE37F36-1F86-18E4-0B3F-818F85CF984E}"/>
              </a:ext>
            </a:extLst>
          </p:cNvPr>
          <p:cNvSpPr txBox="1"/>
          <p:nvPr/>
        </p:nvSpPr>
        <p:spPr>
          <a:xfrm>
            <a:off x="4499801" y="593090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interattivo per classe di rischio (</a:t>
            </a:r>
            <a:r>
              <a:rPr lang="en-US" sz="1496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Basso</a:t>
            </a: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496" dirty="0">
                <a:solidFill>
                  <a:srgbClr val="FF9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Medio</a:t>
            </a: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496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96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6C4E8553-F31F-78EE-848B-5CD0E5176213}"/>
              </a:ext>
            </a:extLst>
          </p:cNvPr>
          <p:cNvSpPr/>
          <p:nvPr/>
        </p:nvSpPr>
        <p:spPr>
          <a:xfrm>
            <a:off x="7945565" y="5422900"/>
            <a:ext cx="12668" cy="1117600"/>
          </a:xfrm>
          <a:prstGeom prst="rect">
            <a:avLst/>
          </a:prstGeom>
          <a:solidFill>
            <a:srgbClr val="2A3F5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4">
            <a:extLst>
              <a:ext uri="{FF2B5EF4-FFF2-40B4-BE49-F238E27FC236}">
                <a16:creationId xmlns:a16="http://schemas.microsoft.com/office/drawing/2014/main" id="{4D696B30-9B15-F185-DF36-8982A0E726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68447" y="5575300"/>
            <a:ext cx="278702" cy="279400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08404A38-A886-ED30-C700-FBE74EE65120}"/>
              </a:ext>
            </a:extLst>
          </p:cNvPr>
          <p:cNvSpPr txBox="1"/>
          <p:nvPr/>
        </p:nvSpPr>
        <p:spPr>
          <a:xfrm>
            <a:off x="8211598" y="593090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e grafici aggiornabili in tempo reale</a:t>
            </a:r>
            <a:endParaRPr lang="en-US" sz="1496" dirty="0"/>
          </a:p>
        </p:txBody>
      </p:sp>
    </p:spTree>
    <p:extLst>
      <p:ext uri="{BB962C8B-B14F-4D97-AF65-F5344CB8AC3E}">
        <p14:creationId xmlns:p14="http://schemas.microsoft.com/office/powerpoint/2010/main" val="63235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>
            <a:extLst>
              <a:ext uri="{FF2B5EF4-FFF2-40B4-BE49-F238E27FC236}">
                <a16:creationId xmlns:a16="http://schemas.microsoft.com/office/drawing/2014/main" id="{9890D266-10AA-ED0A-9C87-69FF05F54D66}"/>
              </a:ext>
            </a:extLst>
          </p:cNvPr>
          <p:cNvSpPr txBox="1"/>
          <p:nvPr/>
        </p:nvSpPr>
        <p:spPr>
          <a:xfrm>
            <a:off x="217932" y="406400"/>
            <a:ext cx="485332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CONCLUSIONI</a:t>
            </a:r>
            <a:endParaRPr lang="en-US" sz="1197" dirty="0">
              <a:solidFill>
                <a:schemeClr val="accent2"/>
              </a:solidFill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69D29A1-F808-B66C-1D26-724A62EDC060}"/>
              </a:ext>
            </a:extLst>
          </p:cNvPr>
          <p:cNvSpPr txBox="1"/>
          <p:nvPr/>
        </p:nvSpPr>
        <p:spPr>
          <a:xfrm>
            <a:off x="217932" y="685800"/>
            <a:ext cx="48533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chemeClr val="accent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Distribuzione Geografica del Rischio</a:t>
            </a:r>
            <a:endParaRPr lang="en-US" sz="2993" dirty="0">
              <a:solidFill>
                <a:schemeClr val="accent2"/>
              </a:solidFill>
            </a:endParaRP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B54E564F-88E5-F2E0-6550-90B9BD0E3445}"/>
              </a:ext>
            </a:extLst>
          </p:cNvPr>
          <p:cNvSpPr/>
          <p:nvPr/>
        </p:nvSpPr>
        <p:spPr>
          <a:xfrm>
            <a:off x="217932" y="1928813"/>
            <a:ext cx="4853325" cy="2082800"/>
          </a:xfrm>
          <a:prstGeom prst="roundRect">
            <a:avLst>
              <a:gd name="adj" fmla="val 458"/>
            </a:avLst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2876AA70-4B47-1F1D-F53D-8FA1E0ACF6ED}"/>
              </a:ext>
            </a:extLst>
          </p:cNvPr>
          <p:cNvSpPr txBox="1"/>
          <p:nvPr/>
        </p:nvSpPr>
        <p:spPr>
          <a:xfrm>
            <a:off x="433292" y="2144713"/>
            <a:ext cx="442260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97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INDICE DI RISCHIO PIÙ ALTO</a:t>
            </a:r>
            <a:endParaRPr lang="en-US" sz="1197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28FAB6E6-4E1D-48FA-9AC9-C7471BEB5FE4}"/>
              </a:ext>
            </a:extLst>
          </p:cNvPr>
          <p:cNvSpPr txBox="1"/>
          <p:nvPr/>
        </p:nvSpPr>
        <p:spPr>
          <a:xfrm>
            <a:off x="433292" y="2449513"/>
            <a:ext cx="41805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993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43BBED19-A6ED-A709-9D30-78EF5255A403}"/>
              </a:ext>
            </a:extLst>
          </p:cNvPr>
          <p:cNvSpPr/>
          <p:nvPr/>
        </p:nvSpPr>
        <p:spPr>
          <a:xfrm>
            <a:off x="1003364" y="2474912"/>
            <a:ext cx="25337" cy="330200"/>
          </a:xfrm>
          <a:prstGeom prst="roundRect">
            <a:avLst>
              <a:gd name="adj" fmla="val 27761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C4C5EC23-0326-0899-EDF5-9B287560F877}"/>
              </a:ext>
            </a:extLst>
          </p:cNvPr>
          <p:cNvSpPr txBox="1"/>
          <p:nvPr/>
        </p:nvSpPr>
        <p:spPr>
          <a:xfrm>
            <a:off x="1180719" y="2513013"/>
            <a:ext cx="88044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Rezzato</a:t>
            </a:r>
            <a:endParaRPr lang="en-US" sz="1795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677745E1-AF9A-9998-403A-4813DE1A53DB}"/>
              </a:ext>
            </a:extLst>
          </p:cNvPr>
          <p:cNvSpPr txBox="1"/>
          <p:nvPr/>
        </p:nvSpPr>
        <p:spPr>
          <a:xfrm>
            <a:off x="433292" y="2932113"/>
            <a:ext cx="4750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993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19756A6C-4690-2E84-076D-72FD8A7C4816}"/>
              </a:ext>
            </a:extLst>
          </p:cNvPr>
          <p:cNvSpPr/>
          <p:nvPr/>
        </p:nvSpPr>
        <p:spPr>
          <a:xfrm>
            <a:off x="1060371" y="2957513"/>
            <a:ext cx="25337" cy="330200"/>
          </a:xfrm>
          <a:prstGeom prst="roundRect">
            <a:avLst>
              <a:gd name="adj" fmla="val 27761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EFA367E-6D34-F215-F4C4-742E996DD0A4}"/>
              </a:ext>
            </a:extLst>
          </p:cNvPr>
          <p:cNvSpPr txBox="1"/>
          <p:nvPr/>
        </p:nvSpPr>
        <p:spPr>
          <a:xfrm>
            <a:off x="1237726" y="2995613"/>
            <a:ext cx="139984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Finale Ligure</a:t>
            </a:r>
            <a:endParaRPr lang="en-US" sz="1795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1871F30-CFAA-F555-7937-70D365CC49C8}"/>
              </a:ext>
            </a:extLst>
          </p:cNvPr>
          <p:cNvSpPr txBox="1"/>
          <p:nvPr/>
        </p:nvSpPr>
        <p:spPr>
          <a:xfrm>
            <a:off x="433292" y="3414713"/>
            <a:ext cx="47505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93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993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82DB9998-992C-3D48-421F-BAFA2885FC94}"/>
              </a:ext>
            </a:extLst>
          </p:cNvPr>
          <p:cNvSpPr/>
          <p:nvPr/>
        </p:nvSpPr>
        <p:spPr>
          <a:xfrm>
            <a:off x="1060371" y="3440113"/>
            <a:ext cx="25337" cy="330200"/>
          </a:xfrm>
          <a:prstGeom prst="roundRect">
            <a:avLst>
              <a:gd name="adj" fmla="val 27761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C3E56F58-A30B-61B2-7562-15697F39D001}"/>
              </a:ext>
            </a:extLst>
          </p:cNvPr>
          <p:cNvSpPr txBox="1"/>
          <p:nvPr/>
        </p:nvSpPr>
        <p:spPr>
          <a:xfrm>
            <a:off x="1237726" y="3478213"/>
            <a:ext cx="90578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9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Albenga</a:t>
            </a:r>
            <a:endParaRPr lang="en-US" sz="1795" dirty="0"/>
          </a:p>
        </p:txBody>
      </p:sp>
      <p:pic>
        <p:nvPicPr>
          <p:cNvPr id="38" name="Image 0">
            <a:extLst>
              <a:ext uri="{FF2B5EF4-FFF2-40B4-BE49-F238E27FC236}">
                <a16:creationId xmlns:a16="http://schemas.microsoft.com/office/drawing/2014/main" id="{F705A671-9BD3-145B-BF18-9F7394892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7932" y="4327525"/>
            <a:ext cx="228029" cy="228600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C853344E-B506-339E-E203-5243A3256450}"/>
              </a:ext>
            </a:extLst>
          </p:cNvPr>
          <p:cNvSpPr txBox="1"/>
          <p:nvPr/>
        </p:nvSpPr>
        <p:spPr>
          <a:xfrm>
            <a:off x="572643" y="4302125"/>
            <a:ext cx="449861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chemeClr val="accent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concentrazione di rischio alto è prevalentemente nelle aree costiere e periurbane del Nord</a:t>
            </a:r>
            <a:endParaRPr lang="en-US" sz="1496" dirty="0">
              <a:solidFill>
                <a:schemeClr val="accent2"/>
              </a:solidFill>
            </a:endParaRP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DB617F3C-F009-C986-A532-55BFA5413CA2}"/>
              </a:ext>
            </a:extLst>
          </p:cNvPr>
          <p:cNvSpPr/>
          <p:nvPr/>
        </p:nvSpPr>
        <p:spPr>
          <a:xfrm>
            <a:off x="217932" y="5168900"/>
            <a:ext cx="4853325" cy="1282700"/>
          </a:xfrm>
          <a:prstGeom prst="roundRect">
            <a:avLst>
              <a:gd name="adj" fmla="val 372"/>
            </a:avLst>
          </a:prstGeom>
          <a:solidFill>
            <a:srgbClr val="13273A"/>
          </a:solidFill>
          <a:ln w="12668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1">
            <a:extLst>
              <a:ext uri="{FF2B5EF4-FFF2-40B4-BE49-F238E27FC236}">
                <a16:creationId xmlns:a16="http://schemas.microsoft.com/office/drawing/2014/main" id="{4498EA2F-09CF-FCED-12FD-DE8F3021F9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619" y="5359400"/>
            <a:ext cx="228029" cy="228600"/>
          </a:xfrm>
          <a:prstGeom prst="rect">
            <a:avLst/>
          </a:prstGeom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49ED0200-AA98-40F8-4A97-2063973DA1EB}"/>
              </a:ext>
            </a:extLst>
          </p:cNvPr>
          <p:cNvSpPr txBox="1"/>
          <p:nvPr/>
        </p:nvSpPr>
        <p:spPr>
          <a:xfrm>
            <a:off x="737330" y="5334000"/>
            <a:ext cx="41692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9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forza vendita ora sa esattamente su quali zone d'Italia concentrarsi per massimizzare l'impatto degli investimenti in sicurezza stradale</a:t>
            </a:r>
            <a:endParaRPr lang="en-US" sz="1496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557C9247-C354-99CD-0484-F83127E8B1DE}"/>
              </a:ext>
            </a:extLst>
          </p:cNvPr>
          <p:cNvSpPr/>
          <p:nvPr/>
        </p:nvSpPr>
        <p:spPr>
          <a:xfrm>
            <a:off x="5476641" y="0"/>
            <a:ext cx="6497427" cy="6858000"/>
          </a:xfrm>
          <a:prstGeom prst="rect">
            <a:avLst/>
          </a:prstGeom>
          <a:solidFill>
            <a:srgbClr val="13273A"/>
          </a:solidFill>
          <a:ln w="12668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2">
            <a:extLst>
              <a:ext uri="{FF2B5EF4-FFF2-40B4-BE49-F238E27FC236}">
                <a16:creationId xmlns:a16="http://schemas.microsoft.com/office/drawing/2014/main" id="{2443B343-B230-37F8-9FED-B8305AE185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9550" b="-39550"/>
          <a:stretch/>
        </p:blipFill>
        <p:spPr>
          <a:xfrm>
            <a:off x="5692002" y="215900"/>
            <a:ext cx="6066706" cy="6121400"/>
          </a:xfrm>
          <a:prstGeom prst="rect">
            <a:avLst/>
          </a:prstGeom>
        </p:spPr>
      </p:pic>
      <p:sp>
        <p:nvSpPr>
          <p:cNvPr id="45" name="Text 17">
            <a:extLst>
              <a:ext uri="{FF2B5EF4-FFF2-40B4-BE49-F238E27FC236}">
                <a16:creationId xmlns:a16="http://schemas.microsoft.com/office/drawing/2014/main" id="{8D825C9E-A14E-CD49-AE5B-23A23D398453}"/>
              </a:ext>
            </a:extLst>
          </p:cNvPr>
          <p:cNvSpPr txBox="1"/>
          <p:nvPr/>
        </p:nvSpPr>
        <p:spPr>
          <a:xfrm>
            <a:off x="6878957" y="6438900"/>
            <a:ext cx="369279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97" dirty="0">
                <a:solidFill>
                  <a:srgbClr val="6B8B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Mappa del rischio stradale per comune — Power BI</a:t>
            </a:r>
            <a:endParaRPr lang="en-US" sz="1197" dirty="0"/>
          </a:p>
        </p:txBody>
      </p:sp>
    </p:spTree>
    <p:extLst>
      <p:ext uri="{BB962C8B-B14F-4D97-AF65-F5344CB8AC3E}">
        <p14:creationId xmlns:p14="http://schemas.microsoft.com/office/powerpoint/2010/main" val="6489792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264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Inter</vt:lpstr>
      <vt:lpstr>Space Grotesk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mauro</dc:creator>
  <cp:lastModifiedBy>francesco mauro</cp:lastModifiedBy>
  <cp:revision>1</cp:revision>
  <dcterms:created xsi:type="dcterms:W3CDTF">2026-07-31T00:46:06Z</dcterms:created>
  <dcterms:modified xsi:type="dcterms:W3CDTF">2026-07-31T00:51:09Z</dcterms:modified>
</cp:coreProperties>
</file>